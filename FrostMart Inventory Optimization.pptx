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8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1885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0365E"/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5120640"/>
            <a:ext cx="2926080" cy="2926080"/>
          </a:xfrm>
          <a:prstGeom prst="ellipse">
            <a:avLst/>
          </a:prstGeom>
          <a:solidFill>
            <a:srgbClr val="10365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CFE8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17320" y="65836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FROSTMART UK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Optimization: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Gut-Feel to Data-Driven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58368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£15.66M of Identified Waste Into a Short List of Fixable Targets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4526280"/>
            <a:ext cx="2926080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exists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FrostMart leadership is moving away from gut-feeling inventory planning. This analysis brings historical sales, weather, and supply chain data together into a single interactive Power BI dashboard — giving Store Managers and the Procurement Team a shared, evidence-based view of exactly what's driving product waste and missed sales.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isn't just a report, it's a decision-making tool that turns “we think it's the bakery” into “here are the 7 products, 1 region, and 3 suppliers actually responsible for it.”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178040" y="1508760"/>
            <a:ext cx="443484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blurRad="101600" dist="38100" dir="5400000" algn="bl" rotWithShape="0">
              <a:srgbClr val="071626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60920" y="1691640"/>
            <a:ext cx="566928" cy="566928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360920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38160" y="158191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£12.2M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38160" y="196596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E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annual loss FrostMart is aiming to reduce, from waste and missed sales (per brief)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7178040" y="2606040"/>
            <a:ext cx="443484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blurRad="101600" dist="38100" dir="5400000" algn="bl" rotWithShape="0">
              <a:srgbClr val="071626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60920" y="2788920"/>
            <a:ext cx="566928" cy="566928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7360920" y="2788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38160" y="267919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38160" y="306324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E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datasets: weekly sales, product, store, weather &amp; supplier data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7178040" y="3703320"/>
            <a:ext cx="443484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blurRad="101600" dist="38100" dir="5400000" algn="bl" rotWithShape="0">
              <a:srgbClr val="071626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60920" y="3886200"/>
            <a:ext cx="566928" cy="566928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7360920" y="3886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38160" y="377647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38160" y="416052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E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views built: Executive, Environmental Impact, Supply Chain Operations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178040" y="4800600"/>
            <a:ext cx="443484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blurRad="101600" dist="38100" dir="5400000" algn="bl" rotWithShape="0">
              <a:srgbClr val="071626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60920" y="4983480"/>
            <a:ext cx="566928" cy="566928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7360920" y="4983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138160" y="487375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£15.66M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38160" y="525780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E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wastage cost identified directly in the data — the visible, fixable core of the loss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FrostMart UK  |  Inventory Optimization Capstone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Executive 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financial health: which categories drive revenue vs. waste.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12395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8016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£205.68M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Revenue   •   </a:t>
            </a:r>
            <a:r>
              <a:rPr lang="en-US" sz="1400" b="1" dirty="0">
                <a:solidFill>
                  <a:srgbClr val="D64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£15.66M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Wastage   •   </a:t>
            </a: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61M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Units Sold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5532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Month  —  </a:t>
            </a:r>
            <a:r>
              <a:rPr lang="en-US" sz="103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around £15–16M most months, then December jumps to £34.0M — about 2.2× a typical month.</a:t>
            </a:r>
            <a:endParaRPr lang="en-US" sz="10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Cost by Category  —  </a:t>
            </a:r>
            <a:r>
              <a:rPr lang="en-US" sz="103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 is highest (£6.3M), then Meat (£4.7M), Dairy (£3.4M), Beverages lowest (£1.2M).</a:t>
            </a:r>
            <a:endParaRPr lang="en-US" sz="10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 —  </a:t>
            </a:r>
            <a:r>
              <a:rPr lang="en-US" sz="103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earns the most (£67M); Bakery earns the least (£41M) — the very same category with the highest waste.</a:t>
            </a:r>
            <a:endParaRPr lang="en-US" sz="10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by Wastage Cost  —  </a:t>
            </a:r>
            <a:r>
              <a:rPr lang="en-US" sz="103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worst individual products — all Bakery — each waste ≈£0.52–£0.55M, totalling nearly a quarter of all wastage company-wide.</a:t>
            </a:r>
            <a:endParaRPr lang="en-US" sz="10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30" dirty="0"/>
          </a:p>
          <a:p>
            <a:pPr>
              <a:lnSpc>
                <a:spcPct val="112000"/>
              </a:lnSpc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Waste by Holiday  —  </a:t>
            </a:r>
            <a:r>
              <a:rPr lang="en-US" sz="1030" b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generated a lot on normal weeks along with a 15m wastage cost of products but on holiday weeks revenue is significantly low and waste is least.</a:t>
            </a:r>
            <a:r>
              <a:rPr lang="en-GH" sz="1050" dirty="0"/>
              <a:t> </a:t>
            </a:r>
            <a:r>
              <a:rPr lang="en-GH" sz="1030" b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normal weeks bring steady sales, staff might over-order routines without checking actual demand patterns, leading to heavy waste.</a:t>
            </a:r>
            <a:endParaRPr lang="en-US" sz="1030" b="1" dirty="0">
              <a:solidFill>
                <a:srgbClr val="CFE8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63640" y="502920"/>
            <a:ext cx="5486400" cy="4133088"/>
          </a:xfrm>
          <a:prstGeom prst="roundRect">
            <a:avLst>
              <a:gd name="adj" fmla="val 885"/>
            </a:avLst>
          </a:prstGeom>
          <a:solidFill>
            <a:srgbClr val="FFFFFF"/>
          </a:solidFill>
          <a:ln w="19050">
            <a:solidFill>
              <a:srgbClr val="CFE8FF"/>
            </a:solidFill>
            <a:prstDash val="solid"/>
          </a:ln>
          <a:effectLst>
            <a:outerShdw blurRad="152400" dist="38100" dir="5400000" algn="bl" rotWithShape="0">
              <a:srgbClr val="071626">
                <a:alpha val="45000"/>
              </a:srgbClr>
            </a:outerShdw>
          </a:effectLst>
        </p:spPr>
      </p:sp>
      <p:pic>
        <p:nvPicPr>
          <p:cNvPr id="8" name="Image 0" descr="dash_ex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94360"/>
            <a:ext cx="5303520" cy="39502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63640" y="48006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page: Bakery is the paradox category — lowest revenue, highest waste — while December is a demand spike the rest of the year isn't built around.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FrostMart UK  |  Inventory Optimization Capstone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Environmental Impact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season, region and weather relate to sales and waste.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12395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8016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20.8mm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Avg Rainfall   •   </a:t>
            </a: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10.0°C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Avg Temperature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5532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Waste by Season  —  </a:t>
            </a:r>
            <a:r>
              <a:rPr lang="en-US" sz="115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(which includes December) leads both units sold and wastage cost; Autumn is the leanest season for both — consistent with the holiday surge on the Executive page.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Wastage by Region  —  </a:t>
            </a:r>
            <a:r>
              <a:rPr lang="en-US" sz="115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is a clear outlier at £5.3M — about 70% more than the next-highest region (South West, £3.1M) and 4.4× the lowest (South East, £1.2M).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by Rainfall  —  </a:t>
            </a:r>
            <a:r>
              <a:rPr lang="en-US" sz="115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Wastage appears concentrated in lower-rainfall weeks in the sample shown — an interesting pattern, but one that needs more data before treating it as a confirmed driver.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5550408"/>
            <a:ext cx="5257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263640" y="502920"/>
            <a:ext cx="5486400" cy="4133088"/>
          </a:xfrm>
          <a:prstGeom prst="roundRect">
            <a:avLst>
              <a:gd name="adj" fmla="val 885"/>
            </a:avLst>
          </a:prstGeom>
          <a:solidFill>
            <a:srgbClr val="FFFFFF"/>
          </a:solidFill>
          <a:ln w="19050">
            <a:solidFill>
              <a:srgbClr val="CFE8FF"/>
            </a:solidFill>
            <a:prstDash val="solid"/>
          </a:ln>
          <a:effectLst>
            <a:outerShdw blurRad="152400" dist="38100" dir="5400000" algn="bl" rotWithShape="0">
              <a:srgbClr val="071626">
                <a:alpha val="45000"/>
              </a:srgbClr>
            </a:outerShdw>
          </a:effectLst>
        </p:spPr>
      </p:sp>
      <p:pic>
        <p:nvPicPr>
          <p:cNvPr id="10" name="Image 0" descr="dash_en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94360"/>
            <a:ext cx="5303520" cy="39502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63640" y="48006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page: waste isn't spread evenly across the UK — it clusters hard in one region and one season, both pointing back to the same holiday-driven story.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FrostMart UK  |  Inventory Optimization Capstone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Supply Chain Operations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suppliers are tied to the highest-spoilage products.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12395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8016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482K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Weekly Supply Capacity   •   </a:t>
            </a: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2.20 days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Avg Lead Time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5532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Wastage Products Table  —  </a:t>
            </a:r>
            <a:r>
              <a:rPr lang="en-US" sz="106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worst products across the business total 2,215,904 wasted units combined.</a:t>
            </a:r>
            <a:endParaRPr lang="en-US" sz="106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6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Concentration  —  </a:t>
            </a:r>
            <a:r>
              <a:rPr lang="en-US" sz="106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suppliers — LocalHarvest Distributors, TrustedSource Provisions &amp; PremiumGoods Wholesale — each appear twice in that list, make 61% of those 2.2M wasted units.</a:t>
            </a:r>
            <a:endParaRPr lang="en-US" sz="106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6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Capacity by Supplier  —  </a:t>
            </a:r>
            <a:r>
              <a:rPr lang="en-US" sz="106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LocalHarvest Distributors has by far the smallest weekly capacity (11K) of any of the 10 suppliers — under a third of the next-smallest (OrganicChoice Partners, 32K) — yet it's tied to 2 of the highest-spoilage products.</a:t>
            </a:r>
            <a:endParaRPr lang="en-US" sz="106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6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Wastage (repeated)  —  </a:t>
            </a:r>
            <a:r>
              <a:rPr lang="en-US" sz="106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London as the top-waste region from a supply lens too, echoing the Environmental Impact page.</a:t>
            </a:r>
            <a:endParaRPr lang="en-US" sz="1060" dirty="0"/>
          </a:p>
        </p:txBody>
      </p:sp>
      <p:sp>
        <p:nvSpPr>
          <p:cNvPr id="7" name="Shape 5"/>
          <p:cNvSpPr/>
          <p:nvPr/>
        </p:nvSpPr>
        <p:spPr>
          <a:xfrm>
            <a:off x="6263640" y="502920"/>
            <a:ext cx="5486400" cy="4133088"/>
          </a:xfrm>
          <a:prstGeom prst="roundRect">
            <a:avLst>
              <a:gd name="adj" fmla="val 885"/>
            </a:avLst>
          </a:prstGeom>
          <a:solidFill>
            <a:srgbClr val="FFFFFF"/>
          </a:solidFill>
          <a:ln w="19050">
            <a:solidFill>
              <a:srgbClr val="CFE8FF"/>
            </a:solidFill>
            <a:prstDash val="solid"/>
          </a:ln>
          <a:effectLst>
            <a:outerShdw blurRad="152400" dist="38100" dir="5400000" algn="bl" rotWithShape="0">
              <a:srgbClr val="071626">
                <a:alpha val="45000"/>
              </a:srgbClr>
            </a:outerShdw>
          </a:effectLst>
        </p:spPr>
      </p:sp>
      <p:pic>
        <p:nvPicPr>
          <p:cNvPr id="8" name="Image 0" descr="dash_supp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602827"/>
            <a:ext cx="5303520" cy="39502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63640" y="48006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page: the spoilage problem isn't spread evenly across the supply base — it's concentrated in 3 suppliers, and one of them is also the most capacity-constrained.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FrostMart UK  |  Inventory Optimization Capstone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 about where FrostMart's £15.66M in waste actually comes from.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088136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blurRad="101600" dist="38100" dir="5400000" algn="bl" rotWithShape="0">
              <a:srgbClr val="07162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746504"/>
            <a:ext cx="512064" cy="512064"/>
          </a:xfrm>
          <a:prstGeom prst="ellipse">
            <a:avLst/>
          </a:prstGeom>
          <a:solidFill>
            <a:srgbClr val="D6455D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7465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26464" y="16459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Bakery is a paradox category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617720" y="1645920"/>
            <a:ext cx="6629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the lowest revenue of any category (£41M) and the highest waste (£6.3M) — a 15.4% waste rate, more than 6× Beverages (2.4%).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48640" y="2505456"/>
            <a:ext cx="1088136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blurRad="101600" dist="38100" dir="5400000" algn="bl" rotWithShape="0">
              <a:srgbClr val="071626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4944" y="2679192"/>
            <a:ext cx="512064" cy="512064"/>
          </a:xfrm>
          <a:prstGeom prst="ellipse">
            <a:avLst/>
          </a:prstGeom>
          <a:solidFill>
            <a:srgbClr val="D6455D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6791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26464" y="257860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products drive a quarter of all waste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17720" y="2578608"/>
            <a:ext cx="6629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 7 individual products — all Bakery — total ≈£3.76M in wastage, roughly 24% of FrostMart's entire £15.66M wastage bill, from a tiny slice of the catalogue.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1088136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blurRad="101600" dist="38100" dir="5400000" algn="bl" rotWithShape="0">
              <a:srgbClr val="071626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4944" y="3611880"/>
            <a:ext cx="512064" cy="512064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36118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26464" y="3511296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Dairy is the profit engine to protect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17720" y="3511296"/>
            <a:ext cx="6629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the highest revenue of any category (£67M) with a comparatively low ≈5.1% waste rate — the category the rest should learn from.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4370832"/>
            <a:ext cx="1088136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blurRad="101600" dist="38100" dir="5400000" algn="bl" rotWithShape="0">
              <a:srgbClr val="071626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" y="4544568"/>
            <a:ext cx="512064" cy="512064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" y="45445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26464" y="4443984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December alone reshapes the year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17720" y="4443984"/>
            <a:ext cx="6629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jumps to £34.0M — about 2.2× a typical month (≈£15.6M) — a holiday surge current ordering may not be fully built around.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5303520"/>
            <a:ext cx="1088136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2700">
            <a:solidFill>
              <a:srgbClr val="D6E6F5"/>
            </a:solidFill>
            <a:prstDash val="solid"/>
          </a:ln>
          <a:effectLst>
            <a:outerShdw blurRad="101600" dist="38100" dir="5400000" algn="bl" rotWithShape="0">
              <a:srgbClr val="071626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" y="5477256"/>
            <a:ext cx="512064" cy="512064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54772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26464" y="537667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Waste is concentrated, not spread out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617720" y="5376672"/>
            <a:ext cx="6629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wastes 4.4× the lowest region, and just 3 suppliers account for 61% of the worst-spoilage products — a handful of targeted fixes could move most of the needle.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FrostMart UK  |  Inventory Optimization Capstone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Solutions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E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priority actions, plus two supporting moves to close the brief's open questions.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64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109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3970">
            <a:solidFill>
              <a:srgbClr val="D6455D"/>
            </a:solidFill>
            <a:prstDash val="solid"/>
          </a:ln>
          <a:effectLst>
            <a:outerShdw blurRad="101600" dist="38100" dir="5400000" algn="bl" rotWithShape="0">
              <a:srgbClr val="071626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1719072"/>
            <a:ext cx="493776" cy="493776"/>
          </a:xfrm>
          <a:prstGeom prst="ellipse">
            <a:avLst/>
          </a:prstGeom>
          <a:solidFill>
            <a:srgbClr val="D6455D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71907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89888" y="1627632"/>
            <a:ext cx="2697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2000"/>
              </a:lnSpc>
            </a:pPr>
            <a:r>
              <a:rPr lang="en-GH" sz="1050" dirty="0"/>
              <a:t>Automatically lower the prices on bakery items that are about to expire so people buy them before they spoil.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97752" y="1512679"/>
            <a:ext cx="7269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8000"/>
              </a:lnSpc>
            </a:pPr>
            <a:r>
              <a:rPr lang="en-GH" sz="1050" dirty="0"/>
              <a:t>Automatically give bigger discounts to items near their expiration date when customers pay at the checkout. Testing this on just the 7 items with the highest waste can save £3.76 million (which is nearly a quarter of all food waste costs).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32304"/>
            <a:ext cx="11109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3970">
            <a:solidFill>
              <a:srgbClr val="D6455D"/>
            </a:solidFill>
            <a:prstDash val="solid"/>
          </a:ln>
          <a:effectLst>
            <a:outerShdw blurRad="101600" dist="38100" dir="5400000" algn="bl" rotWithShape="0">
              <a:srgbClr val="071626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4944" y="2578608"/>
            <a:ext cx="493776" cy="493776"/>
          </a:xfrm>
          <a:prstGeom prst="ellipse">
            <a:avLst/>
          </a:prstGeom>
          <a:solidFill>
            <a:srgbClr val="D6455D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257860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89888" y="2487168"/>
            <a:ext cx="2697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2000"/>
              </a:lnSpc>
            </a:pPr>
            <a:r>
              <a:rPr lang="en-GH" sz="1050" dirty="0"/>
              <a:t>Adjust how much we buy from the 3 suppliers whose products spoil the most, so we order less from them and stop wasting food.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97752" y="2487168"/>
            <a:ext cx="7269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order size and frequency with LocalHarvest Distributors, TrustedSource Provisions &amp; PremiumGoods Wholesale specifically; cap LocalHarvest's orders at its real 11K/week capacity instead of over-ordering against a supplier that structurally can't flex.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11109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3970">
            <a:solidFill>
              <a:srgbClr val="D6455D"/>
            </a:solidFill>
            <a:prstDash val="solid"/>
          </a:ln>
          <a:effectLst>
            <a:outerShdw blurRad="101600" dist="38100" dir="5400000" algn="bl" rotWithShape="0">
              <a:srgbClr val="071626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4944" y="3438144"/>
            <a:ext cx="493776" cy="493776"/>
          </a:xfrm>
          <a:prstGeom prst="ellipse">
            <a:avLst/>
          </a:prstGeom>
          <a:solidFill>
            <a:srgbClr val="D6455D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343814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35024" y="3319272"/>
            <a:ext cx="3187337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2000"/>
              </a:lnSpc>
            </a:pPr>
            <a:r>
              <a:rPr lang="en-GH" sz="1050" dirty="0"/>
              <a:t>Check how much and how often we order from three specific suppliers, and limit orders for </a:t>
            </a:r>
            <a:r>
              <a:rPr lang="en-GH" sz="1050" dirty="0" err="1"/>
              <a:t>LocalHarvest</a:t>
            </a:r>
            <a:r>
              <a:rPr lang="en-GH" sz="1050" dirty="0"/>
              <a:t> to 11,000 units per week so we don't buy more than they can actually deliver</a:t>
            </a:r>
            <a:r>
              <a:rPr lang="en-GH" sz="1200" dirty="0"/>
              <a:t>.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4597752" y="3291840"/>
            <a:ext cx="720715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8000"/>
              </a:lnSpc>
            </a:pPr>
            <a:r>
              <a:rPr lang="en-GH" sz="1050" dirty="0"/>
              <a:t>London wastes 4.4 times more food than the best region, so checking London's fridges, delivery schedules, and sales predictions will fix our biggest regional problem.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4944" y="5449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FrostMart UK  |  Inventory Optimization Capstone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754880" cy="4754880"/>
          </a:xfrm>
          <a:prstGeom prst="ellipse">
            <a:avLst/>
          </a:prstGeom>
          <a:solidFill>
            <a:srgbClr val="081D3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108960" cy="3108960"/>
          </a:xfrm>
          <a:prstGeom prst="ellipse">
            <a:avLst/>
          </a:prstGeom>
          <a:solidFill>
            <a:srgbClr val="10365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2057400"/>
            <a:ext cx="2377440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377440"/>
            <a:ext cx="89611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FrostMart's waste problem isn't random — it's concentrated in one category (Bakery), one month (December), one region (London), and three suppliers. That concentration is good news: it means a handful of targeted, evidence-backed actions — not a company-wide overhaul — can meaningfully close the gap toward the £12.2M loss FrostMart set out to fix.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is built to keep tracking these exact signals — Bakery waste rate, the December surge, London's regional gap, and the 3 concentrated suppliers — so Store Managers and Procurement can see, every week, whether the fixes are actually working.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5394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FrostMart UK  |  Inventory Optimization Capstone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8243</TotalTime>
  <Words>1369</Words>
  <Application>Microsoft Office PowerPoint</Application>
  <PresentationFormat>Widescreen</PresentationFormat>
  <Paragraphs>111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emmanuel williams</cp:lastModifiedBy>
  <cp:revision>3</cp:revision>
  <dcterms:created xsi:type="dcterms:W3CDTF">2026-08-04T22:23:10Z</dcterms:created>
  <dcterms:modified xsi:type="dcterms:W3CDTF">2026-08-10T15:50:17Z</dcterms:modified>
</cp:coreProperties>
</file>